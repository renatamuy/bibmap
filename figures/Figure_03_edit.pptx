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glr+ZyAK+TXPefz0sSZ9yEMS1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84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4660"/>
  </p:normalViewPr>
  <p:slideViewPr>
    <p:cSldViewPr snapToGrid="0">
      <p:cViewPr>
        <p:scale>
          <a:sx n="51" d="100"/>
          <a:sy n="51" d="100"/>
        </p:scale>
        <p:origin x="14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t="13876"/>
          <a:stretch/>
        </p:blipFill>
        <p:spPr>
          <a:xfrm>
            <a:off x="-274829" y="1892813"/>
            <a:ext cx="5734050" cy="49301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2"/>
          <p:cNvGrpSpPr/>
          <p:nvPr/>
        </p:nvGrpSpPr>
        <p:grpSpPr>
          <a:xfrm>
            <a:off x="5247102" y="2308065"/>
            <a:ext cx="7241755" cy="3877180"/>
            <a:chOff x="284822" y="213633"/>
            <a:chExt cx="7241755" cy="3877180"/>
          </a:xfrm>
        </p:grpSpPr>
        <p:sp>
          <p:nvSpPr>
            <p:cNvPr id="91" name="Google Shape;91;p2"/>
            <p:cNvSpPr/>
            <p:nvPr/>
          </p:nvSpPr>
          <p:spPr>
            <a:xfrm>
              <a:off x="4313824" y="3636970"/>
              <a:ext cx="5354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9050" cap="flat" cmpd="sng">
              <a:solidFill>
                <a:srgbClr val="93A5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4568167" y="3669303"/>
              <a:ext cx="26772" cy="26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101070" y="2156906"/>
              <a:ext cx="535459" cy="15257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19050" cap="flat" cmpd="sng">
              <a:solidFill>
                <a:srgbClr val="5B7C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328374" y="2879373"/>
              <a:ext cx="80850" cy="80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313824" y="2616659"/>
              <a:ext cx="5354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9050" cap="flat" cmpd="sng">
              <a:solidFill>
                <a:srgbClr val="93A5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4568167" y="2648992"/>
              <a:ext cx="26772" cy="26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01070" y="2156906"/>
              <a:ext cx="535459" cy="50547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19050" cap="flat" cmpd="sng">
              <a:solidFill>
                <a:srgbClr val="5B7C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350391" y="2391234"/>
              <a:ext cx="36817" cy="36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313824" y="1596348"/>
              <a:ext cx="5354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9050" cap="flat" cmpd="sng">
              <a:solidFill>
                <a:srgbClr val="93A5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4568167" y="1628682"/>
              <a:ext cx="26772" cy="26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101070" y="1642068"/>
              <a:ext cx="535459" cy="5148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19050" cap="flat" cmpd="sng">
              <a:solidFill>
                <a:srgbClr val="5B7C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350229" y="1880917"/>
              <a:ext cx="37140" cy="37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313824" y="576037"/>
              <a:ext cx="5354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9050" cap="flat" cmpd="sng">
              <a:solidFill>
                <a:srgbClr val="93A5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4568167" y="608371"/>
              <a:ext cx="26772" cy="26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01070" y="621757"/>
              <a:ext cx="535459" cy="153514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19050" cap="flat" cmpd="sng">
              <a:solidFill>
                <a:srgbClr val="5B7C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328153" y="1348686"/>
              <a:ext cx="81292" cy="81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-5400000">
              <a:off x="-997762" y="1748782"/>
              <a:ext cx="3381417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80000"/>
                  </a:srgbClr>
                </a:gs>
                <a:gs pos="50000">
                  <a:srgbClr val="8DA1B2">
                    <a:alpha val="80000"/>
                  </a:srgbClr>
                </a:gs>
                <a:gs pos="100000">
                  <a:srgbClr val="7893AA">
                    <a:alpha val="8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 rot="-5400000">
              <a:off x="-997762" y="1748782"/>
              <a:ext cx="3381417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In the </a:t>
              </a:r>
              <a:r>
                <a:rPr lang="en-US" sz="32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dark</a:t>
              </a:r>
              <a:endParaRPr b="1" dirty="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636529" y="213633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69803"/>
                  </a:srgbClr>
                </a:gs>
                <a:gs pos="50000">
                  <a:srgbClr val="8DA1B2">
                    <a:alpha val="69803"/>
                  </a:srgbClr>
                </a:gs>
                <a:gs pos="100000">
                  <a:srgbClr val="7893AA">
                    <a:alpha val="6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636529" y="213633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Keystone SE nodes 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849283" y="213633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49803"/>
                  </a:srgbClr>
                </a:gs>
                <a:gs pos="50000">
                  <a:srgbClr val="8DA1B2">
                    <a:alpha val="49803"/>
                  </a:srgbClr>
                </a:gs>
                <a:gs pos="100000">
                  <a:srgbClr val="7893AA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4849283" y="213633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Interaction strength, hub scores, node centrality</a:t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636529" y="1233944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69803"/>
                  </a:srgbClr>
                </a:gs>
                <a:gs pos="50000">
                  <a:srgbClr val="8DA1B2">
                    <a:alpha val="69803"/>
                  </a:srgbClr>
                </a:gs>
                <a:gs pos="100000">
                  <a:srgbClr val="7893AA">
                    <a:alpha val="6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636529" y="1233944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Duality of interactions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Hidden interactions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Forbidden interactions</a:t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849283" y="1233944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49803"/>
                  </a:srgbClr>
                </a:gs>
                <a:gs pos="50000">
                  <a:srgbClr val="8DA1B2">
                    <a:alpha val="49803"/>
                  </a:srgbClr>
                </a:gs>
                <a:gs pos="100000">
                  <a:srgbClr val="7893AA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4849283" y="1233944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Degree, centrality, clustering, temporal activity, functional roles</a:t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636529" y="2254255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69803"/>
                  </a:srgbClr>
                </a:gs>
                <a:gs pos="50000">
                  <a:srgbClr val="8DA1B2">
                    <a:alpha val="69803"/>
                  </a:srgbClr>
                </a:gs>
                <a:gs pos="100000">
                  <a:srgbClr val="7893AA">
                    <a:alpha val="6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1636529" y="2254255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External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Environmental effects on SENs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849283" y="2254255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49803"/>
                  </a:srgbClr>
                </a:gs>
                <a:gs pos="50000">
                  <a:srgbClr val="8DA1B2">
                    <a:alpha val="49803"/>
                  </a:srgbClr>
                </a:gs>
                <a:gs pos="100000">
                  <a:srgbClr val="7893AA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4849283" y="2254255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" tIns="6350" rIns="6350" bIns="6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Linear models, Mixed-effects models (GLMMs, GAMMs), Spatial autoregressive models (SAR), Bayesian models, Latent space models,  Exponential Random Graph Models (ERGMs), Machine Learning models, Multivariate tests.</a:t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636529" y="3274565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69803"/>
                  </a:srgbClr>
                </a:gs>
                <a:gs pos="50000">
                  <a:srgbClr val="8DA1B2">
                    <a:alpha val="69803"/>
                  </a:srgbClr>
                </a:gs>
                <a:gs pos="100000">
                  <a:srgbClr val="7893AA">
                    <a:alpha val="6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1636529" y="3274565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Networks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Emergent properties</a:t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849283" y="3274565"/>
              <a:ext cx="2677295" cy="816248"/>
            </a:xfrm>
            <a:prstGeom prst="rect">
              <a:avLst/>
            </a:prstGeom>
            <a:gradFill>
              <a:gsLst>
                <a:gs pos="0">
                  <a:srgbClr val="9AADBE">
                    <a:alpha val="49803"/>
                  </a:srgbClr>
                </a:gs>
                <a:gs pos="50000">
                  <a:srgbClr val="8DA1B2">
                    <a:alpha val="49803"/>
                  </a:srgbClr>
                </a:gs>
                <a:gs pos="100000">
                  <a:srgbClr val="7893AA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849283" y="3274565"/>
              <a:ext cx="2677295" cy="8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Robustness, Flow betweenness, Hierarchy  centralization, Modularity  and participation, assortativity   </a:t>
              </a:r>
              <a:endParaRPr/>
            </a:p>
          </p:txBody>
        </p:sp>
      </p:grpSp>
      <p:cxnSp>
        <p:nvCxnSpPr>
          <p:cNvPr id="125" name="Google Shape;125;p2"/>
          <p:cNvCxnSpPr/>
          <p:nvPr/>
        </p:nvCxnSpPr>
        <p:spPr>
          <a:xfrm>
            <a:off x="8532276" y="1007066"/>
            <a:ext cx="1421379" cy="106874"/>
          </a:xfrm>
          <a:prstGeom prst="straightConnector1">
            <a:avLst/>
          </a:prstGeom>
          <a:noFill/>
          <a:ln w="38100" cap="flat" cmpd="sng">
            <a:solidFill>
              <a:srgbClr val="A7B8C6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27" name="Google Shape;127;p2" descr="Rede social com preenchimento sólido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776876" y="600049"/>
            <a:ext cx="1230015" cy="12300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28" name="Google Shape;128;p2" descr="Rede com preenchimento sólid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2695" y="509810"/>
            <a:ext cx="1230015" cy="1230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2"/>
          <p:cNvCxnSpPr/>
          <p:nvPr/>
        </p:nvCxnSpPr>
        <p:spPr>
          <a:xfrm rot="10800000">
            <a:off x="8442639" y="1450017"/>
            <a:ext cx="1511016" cy="176056"/>
          </a:xfrm>
          <a:prstGeom prst="straightConnector1">
            <a:avLst/>
          </a:prstGeom>
          <a:noFill/>
          <a:ln w="38100" cap="flat" cmpd="sng">
            <a:solidFill>
              <a:srgbClr val="B6C3C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30" name="Google Shape;130;p2"/>
          <p:cNvCxnSpPr/>
          <p:nvPr/>
        </p:nvCxnSpPr>
        <p:spPr>
          <a:xfrm rot="10800000" flipH="1">
            <a:off x="8442639" y="1297087"/>
            <a:ext cx="1779638" cy="98596"/>
          </a:xfrm>
          <a:prstGeom prst="straightConnector1">
            <a:avLst/>
          </a:prstGeom>
          <a:noFill/>
          <a:ln w="38100" cap="flat" cmpd="sng">
            <a:solidFill>
              <a:srgbClr val="A7B8C6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31" name="Google Shape;131;p2"/>
          <p:cNvCxnSpPr>
            <a:cxnSpLocks/>
          </p:cNvCxnSpPr>
          <p:nvPr/>
        </p:nvCxnSpPr>
        <p:spPr>
          <a:xfrm>
            <a:off x="8163668" y="752979"/>
            <a:ext cx="2140265" cy="63753"/>
          </a:xfrm>
          <a:prstGeom prst="straightConnector1">
            <a:avLst/>
          </a:prstGeom>
          <a:noFill/>
          <a:ln w="38100" cap="flat" cmpd="sng">
            <a:solidFill>
              <a:srgbClr val="A7B8C6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2"/>
          <p:cNvSpPr txBox="1"/>
          <p:nvPr/>
        </p:nvSpPr>
        <p:spPr>
          <a:xfrm>
            <a:off x="8637533" y="1573543"/>
            <a:ext cx="1249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7B8C6"/>
                </a:solidFill>
                <a:latin typeface="Arial"/>
                <a:ea typeface="Arial"/>
                <a:cs typeface="Arial"/>
                <a:sym typeface="Arial"/>
              </a:rPr>
              <a:t>SEN links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769663" y="242367"/>
            <a:ext cx="2287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F9F32"/>
                </a:solidFill>
                <a:latin typeface="Arial"/>
                <a:ea typeface="Arial"/>
                <a:cs typeface="Arial"/>
                <a:sym typeface="Arial"/>
              </a:rPr>
              <a:t>Ecological network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9556456" y="236300"/>
            <a:ext cx="18133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B845D"/>
                </a:solidFill>
                <a:latin typeface="Arial"/>
                <a:ea typeface="Arial"/>
                <a:cs typeface="Arial"/>
                <a:sym typeface="Arial"/>
              </a:rPr>
              <a:t>Social network</a:t>
            </a:r>
            <a:endParaRPr dirty="0">
              <a:solidFill>
                <a:srgbClr val="CB845D"/>
              </a:solidFill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7468433" y="1942875"/>
            <a:ext cx="9669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Levels </a:t>
            </a:r>
            <a:endParaRPr dirty="0"/>
          </a:p>
        </p:txBody>
      </p:sp>
      <p:sp>
        <p:nvSpPr>
          <p:cNvPr id="136" name="Google Shape;136;p2"/>
          <p:cNvSpPr txBox="1"/>
          <p:nvPr/>
        </p:nvSpPr>
        <p:spPr>
          <a:xfrm>
            <a:off x="9982397" y="1924410"/>
            <a:ext cx="23391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Metrics and models</a:t>
            </a:r>
            <a:endParaRPr/>
          </a:p>
        </p:txBody>
      </p:sp>
      <p:grpSp>
        <p:nvGrpSpPr>
          <p:cNvPr id="137" name="Google Shape;137;p2"/>
          <p:cNvGrpSpPr/>
          <p:nvPr/>
        </p:nvGrpSpPr>
        <p:grpSpPr>
          <a:xfrm>
            <a:off x="-1077993" y="2532850"/>
            <a:ext cx="980145" cy="3455201"/>
            <a:chOff x="1752986" y="2289536"/>
            <a:chExt cx="546427" cy="2012984"/>
          </a:xfrm>
        </p:grpSpPr>
        <p:sp>
          <p:nvSpPr>
            <p:cNvPr id="138" name="Google Shape;138;p2"/>
            <p:cNvSpPr txBox="1"/>
            <p:nvPr/>
          </p:nvSpPr>
          <p:spPr>
            <a:xfrm rot="-5400000">
              <a:off x="1130068" y="3044860"/>
              <a:ext cx="1852771" cy="485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network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 see 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 rot="-5400000">
              <a:off x="989453" y="3053068"/>
              <a:ext cx="2012984" cy="485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</a:rPr>
                <a:t>The network</a:t>
              </a:r>
              <a:endParaRPr sz="24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</a:rPr>
                <a:t>we see </a:t>
              </a:r>
              <a:endParaRPr sz="2400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</a:endParaRPr>
            </a:p>
          </p:txBody>
        </p:sp>
      </p:grpSp>
      <p:pic>
        <p:nvPicPr>
          <p:cNvPr id="140" name="Google Shape;140;p2" descr="Lua cheia com preenchimento sólid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104452" y="250467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 descr="Lupa com preenchimento sólido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54140" y="657079"/>
            <a:ext cx="1305169" cy="130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 descr="Seta: curva no sentido horário com preenchimento sólido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4368668">
            <a:off x="3300108" y="632330"/>
            <a:ext cx="1702002" cy="16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 descr="Seta: curva no sentido horário com preenchimento sólido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4368668">
            <a:off x="5840968" y="260948"/>
            <a:ext cx="931283" cy="91864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"/>
          <p:cNvSpPr txBox="1"/>
          <p:nvPr/>
        </p:nvSpPr>
        <p:spPr>
          <a:xfrm>
            <a:off x="3640695" y="170401"/>
            <a:ext cx="29572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Future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directions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SEN research</a:t>
            </a:r>
            <a:endParaRPr dirty="0"/>
          </a:p>
        </p:txBody>
      </p:sp>
      <p:pic>
        <p:nvPicPr>
          <p:cNvPr id="5" name="Graphic 4" descr="Waxing Crescent Moon with solid fill">
            <a:extLst>
              <a:ext uri="{FF2B5EF4-FFF2-40B4-BE49-F238E27FC236}">
                <a16:creationId xmlns:a16="http://schemas.microsoft.com/office/drawing/2014/main" id="{5C2EDC25-9B87-1362-520D-F4CDC5C49B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74733" y="250779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Play</vt:lpstr>
      <vt:lpstr>Tema do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Renata de Lara Muylaert</dc:creator>
  <cp:lastModifiedBy>Renata de Lara Muylaert</cp:lastModifiedBy>
  <cp:revision>1</cp:revision>
  <dcterms:created xsi:type="dcterms:W3CDTF">2025-04-17T22:31:16Z</dcterms:created>
  <dcterms:modified xsi:type="dcterms:W3CDTF">2025-06-11T01:33:59Z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2025-04-17T23:15:45Z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07064134-f2bc-4b94-9884-e20e30c048ed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