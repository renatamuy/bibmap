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Play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glr+ZyAK+TXPefz0sSZ9yEMS1m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8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2FC769-644D-4826-9830-AD5C03AE2FD3}" v="3" dt="2025-06-13T05:58:48.2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39" autoAdjust="0"/>
    <p:restoredTop sz="94660"/>
  </p:normalViewPr>
  <p:slideViewPr>
    <p:cSldViewPr snapToGrid="0">
      <p:cViewPr>
        <p:scale>
          <a:sx n="125" d="100"/>
          <a:sy n="125" d="100"/>
        </p:scale>
        <p:origin x="211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a de Lara Muylaert" userId="0867cccb-c3a2-4fe1-98fb-a480d9aef68d" providerId="ADAL" clId="{E12FC769-644D-4826-9830-AD5C03AE2FD3}"/>
    <pc:docChg chg="undo custSel modSld">
      <pc:chgData name="Renata de Lara Muylaert" userId="0867cccb-c3a2-4fe1-98fb-a480d9aef68d" providerId="ADAL" clId="{E12FC769-644D-4826-9830-AD5C03AE2FD3}" dt="2025-06-13T06:00:27.538" v="98" actId="14100"/>
      <pc:docMkLst>
        <pc:docMk/>
      </pc:docMkLst>
      <pc:sldChg chg="addSp delSp modSp mod">
        <pc:chgData name="Renata de Lara Muylaert" userId="0867cccb-c3a2-4fe1-98fb-a480d9aef68d" providerId="ADAL" clId="{E12FC769-644D-4826-9830-AD5C03AE2FD3}" dt="2025-06-13T06:00:27.538" v="98" actId="14100"/>
        <pc:sldMkLst>
          <pc:docMk/>
          <pc:sldMk cId="0" sldId="256"/>
        </pc:sldMkLst>
        <pc:spChg chg="mod">
          <ac:chgData name="Renata de Lara Muylaert" userId="0867cccb-c3a2-4fe1-98fb-a480d9aef68d" providerId="ADAL" clId="{E12FC769-644D-4826-9830-AD5C03AE2FD3}" dt="2025-06-13T05:51:29.337" v="61" actId="20577"/>
          <ac:spMkLst>
            <pc:docMk/>
            <pc:sldMk cId="0" sldId="256"/>
            <ac:spMk id="138" creationId="{00000000-0000-0000-0000-000000000000}"/>
          </ac:spMkLst>
        </pc:spChg>
        <pc:spChg chg="mod ord">
          <ac:chgData name="Renata de Lara Muylaert" userId="0867cccb-c3a2-4fe1-98fb-a480d9aef68d" providerId="ADAL" clId="{E12FC769-644D-4826-9830-AD5C03AE2FD3}" dt="2025-06-13T05:51:21.744" v="41" actId="167"/>
          <ac:spMkLst>
            <pc:docMk/>
            <pc:sldMk cId="0" sldId="256"/>
            <ac:spMk id="139" creationId="{00000000-0000-0000-0000-000000000000}"/>
          </ac:spMkLst>
        </pc:spChg>
        <pc:grpChg chg="add del mod">
          <ac:chgData name="Renata de Lara Muylaert" userId="0867cccb-c3a2-4fe1-98fb-a480d9aef68d" providerId="ADAL" clId="{E12FC769-644D-4826-9830-AD5C03AE2FD3}" dt="2025-06-13T05:59:27.915" v="84" actId="1076"/>
          <ac:grpSpMkLst>
            <pc:docMk/>
            <pc:sldMk cId="0" sldId="256"/>
            <ac:grpSpMk id="137" creationId="{00000000-0000-0000-0000-000000000000}"/>
          </ac:grpSpMkLst>
        </pc:grpChg>
        <pc:picChg chg="add mod modCrop">
          <ac:chgData name="Renata de Lara Muylaert" userId="0867cccb-c3a2-4fe1-98fb-a480d9aef68d" providerId="ADAL" clId="{E12FC769-644D-4826-9830-AD5C03AE2FD3}" dt="2025-06-13T06:00:11.260" v="96" actId="732"/>
          <ac:picMkLst>
            <pc:docMk/>
            <pc:sldMk cId="0" sldId="256"/>
            <ac:picMk id="2" creationId="{F1381D91-4B5F-2ACD-61FA-696A340F5322}"/>
          </ac:picMkLst>
        </pc:picChg>
        <pc:picChg chg="add del mod ord modCrop">
          <ac:chgData name="Renata de Lara Muylaert" userId="0867cccb-c3a2-4fe1-98fb-a480d9aef68d" providerId="ADAL" clId="{E12FC769-644D-4826-9830-AD5C03AE2FD3}" dt="2025-06-13T05:58:47.847" v="67" actId="478"/>
          <ac:picMkLst>
            <pc:docMk/>
            <pc:sldMk cId="0" sldId="256"/>
            <ac:picMk id="4" creationId="{FB5BC70B-5CFD-B1DB-1A92-62D9328F3A8C}"/>
          </ac:picMkLst>
        </pc:picChg>
        <pc:picChg chg="add mod ord modCrop">
          <ac:chgData name="Renata de Lara Muylaert" userId="0867cccb-c3a2-4fe1-98fb-a480d9aef68d" providerId="ADAL" clId="{E12FC769-644D-4826-9830-AD5C03AE2FD3}" dt="2025-06-13T06:00:05.817" v="94" actId="1076"/>
          <ac:picMkLst>
            <pc:docMk/>
            <pc:sldMk cId="0" sldId="256"/>
            <ac:picMk id="7" creationId="{EAB4CFD4-C12F-841C-4518-51626A3CDDF8}"/>
          </ac:picMkLst>
        </pc:picChg>
        <pc:picChg chg="add del mod modCrop">
          <ac:chgData name="Renata de Lara Muylaert" userId="0867cccb-c3a2-4fe1-98fb-a480d9aef68d" providerId="ADAL" clId="{E12FC769-644D-4826-9830-AD5C03AE2FD3}" dt="2025-06-13T06:00:27.538" v="98" actId="14100"/>
          <ac:picMkLst>
            <pc:docMk/>
            <pc:sldMk cId="0" sldId="256"/>
            <ac:picMk id="89" creationId="{00000000-0000-0000-0000-000000000000}"/>
          </ac:picMkLst>
        </pc:picChg>
        <pc:picChg chg="mod">
          <ac:chgData name="Renata de Lara Muylaert" userId="0867cccb-c3a2-4fe1-98fb-a480d9aef68d" providerId="ADAL" clId="{E12FC769-644D-4826-9830-AD5C03AE2FD3}" dt="2025-06-13T05:59:35.601" v="85" actId="1076"/>
          <ac:picMkLst>
            <pc:docMk/>
            <pc:sldMk cId="0" sldId="256"/>
            <ac:picMk id="140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medical use&#10;&#10;AI-generated content may be incorrect.">
            <a:extLst>
              <a:ext uri="{FF2B5EF4-FFF2-40B4-BE49-F238E27FC236}">
                <a16:creationId xmlns:a16="http://schemas.microsoft.com/office/drawing/2014/main" id="{EAB4CFD4-C12F-841C-4518-51626A3CDD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03"/>
          <a:stretch>
            <a:fillRect/>
          </a:stretch>
        </p:blipFill>
        <p:spPr>
          <a:xfrm>
            <a:off x="433074" y="2385298"/>
            <a:ext cx="4835514" cy="4472702"/>
          </a:xfrm>
          <a:prstGeom prst="rect">
            <a:avLst/>
          </a:prstGeom>
        </p:spPr>
      </p:pic>
      <p:pic>
        <p:nvPicPr>
          <p:cNvPr id="89" name="Google Shape;89;p2"/>
          <p:cNvPicPr preferRelativeResize="0"/>
          <p:nvPr/>
        </p:nvPicPr>
        <p:blipFill rotWithShape="1">
          <a:blip r:embed="rId4">
            <a:alphaModFix/>
          </a:blip>
          <a:srcRect l="42120" t="13876" r="39789" b="49053"/>
          <a:stretch>
            <a:fillRect/>
          </a:stretch>
        </p:blipFill>
        <p:spPr>
          <a:xfrm>
            <a:off x="2325060" y="1962248"/>
            <a:ext cx="1375009" cy="259523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0" name="Google Shape;90;p2"/>
          <p:cNvGrpSpPr/>
          <p:nvPr/>
        </p:nvGrpSpPr>
        <p:grpSpPr>
          <a:xfrm>
            <a:off x="5247102" y="2308065"/>
            <a:ext cx="7241755" cy="3877180"/>
            <a:chOff x="284822" y="213633"/>
            <a:chExt cx="7241755" cy="3877180"/>
          </a:xfrm>
        </p:grpSpPr>
        <p:sp>
          <p:nvSpPr>
            <p:cNvPr id="91" name="Google Shape;91;p2"/>
            <p:cNvSpPr/>
            <p:nvPr/>
          </p:nvSpPr>
          <p:spPr>
            <a:xfrm>
              <a:off x="4313824" y="3636970"/>
              <a:ext cx="535459" cy="9144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120000" y="60000"/>
                  </a:lnTo>
                </a:path>
              </a:pathLst>
            </a:custGeom>
            <a:noFill/>
            <a:ln w="19050" cap="flat" cmpd="sng">
              <a:solidFill>
                <a:srgbClr val="93A5B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 txBox="1"/>
            <p:nvPr/>
          </p:nvSpPr>
          <p:spPr>
            <a:xfrm>
              <a:off x="4568167" y="3669303"/>
              <a:ext cx="26772" cy="267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1101070" y="2156906"/>
              <a:ext cx="535459" cy="1525783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60000" y="0"/>
                  </a:lnTo>
                  <a:lnTo>
                    <a:pt x="60000" y="120000"/>
                  </a:lnTo>
                  <a:lnTo>
                    <a:pt x="120000" y="120000"/>
                  </a:lnTo>
                </a:path>
              </a:pathLst>
            </a:custGeom>
            <a:noFill/>
            <a:ln w="19050" cap="flat" cmpd="sng">
              <a:solidFill>
                <a:srgbClr val="5B7C9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1328374" y="2879373"/>
              <a:ext cx="80850" cy="808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4313824" y="2616659"/>
              <a:ext cx="535459" cy="9144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120000" y="60000"/>
                  </a:lnTo>
                </a:path>
              </a:pathLst>
            </a:custGeom>
            <a:noFill/>
            <a:ln w="19050" cap="flat" cmpd="sng">
              <a:solidFill>
                <a:srgbClr val="93A5B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4568167" y="2648992"/>
              <a:ext cx="26772" cy="267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101070" y="2156906"/>
              <a:ext cx="535459" cy="505472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60000" y="0"/>
                  </a:lnTo>
                  <a:lnTo>
                    <a:pt x="60000" y="120000"/>
                  </a:lnTo>
                  <a:lnTo>
                    <a:pt x="120000" y="120000"/>
                  </a:lnTo>
                </a:path>
              </a:pathLst>
            </a:custGeom>
            <a:noFill/>
            <a:ln w="19050" cap="flat" cmpd="sng">
              <a:solidFill>
                <a:srgbClr val="5B7C9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 txBox="1"/>
            <p:nvPr/>
          </p:nvSpPr>
          <p:spPr>
            <a:xfrm>
              <a:off x="1350391" y="2391234"/>
              <a:ext cx="36817" cy="368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4313824" y="1596348"/>
              <a:ext cx="535459" cy="9144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120000" y="60000"/>
                  </a:lnTo>
                </a:path>
              </a:pathLst>
            </a:custGeom>
            <a:noFill/>
            <a:ln w="19050" cap="flat" cmpd="sng">
              <a:solidFill>
                <a:srgbClr val="93A5B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4568167" y="1628682"/>
              <a:ext cx="26772" cy="267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101070" y="1642068"/>
              <a:ext cx="535459" cy="514838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lnTo>
                    <a:pt x="60000" y="120000"/>
                  </a:lnTo>
                  <a:lnTo>
                    <a:pt x="60000" y="0"/>
                  </a:lnTo>
                  <a:lnTo>
                    <a:pt x="120000" y="0"/>
                  </a:lnTo>
                </a:path>
              </a:pathLst>
            </a:custGeom>
            <a:noFill/>
            <a:ln w="19050" cap="flat" cmpd="sng">
              <a:solidFill>
                <a:srgbClr val="5B7C9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 txBox="1"/>
            <p:nvPr/>
          </p:nvSpPr>
          <p:spPr>
            <a:xfrm>
              <a:off x="1350229" y="1880917"/>
              <a:ext cx="37140" cy="371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4313824" y="576037"/>
              <a:ext cx="535459" cy="9144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120000" y="60000"/>
                  </a:lnTo>
                </a:path>
              </a:pathLst>
            </a:custGeom>
            <a:noFill/>
            <a:ln w="19050" cap="flat" cmpd="sng">
              <a:solidFill>
                <a:srgbClr val="93A5B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 txBox="1"/>
            <p:nvPr/>
          </p:nvSpPr>
          <p:spPr>
            <a:xfrm>
              <a:off x="4568167" y="608371"/>
              <a:ext cx="26772" cy="267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101070" y="621757"/>
              <a:ext cx="535459" cy="1535148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lnTo>
                    <a:pt x="60000" y="120000"/>
                  </a:lnTo>
                  <a:lnTo>
                    <a:pt x="60000" y="0"/>
                  </a:lnTo>
                  <a:lnTo>
                    <a:pt x="120000" y="0"/>
                  </a:lnTo>
                </a:path>
              </a:pathLst>
            </a:custGeom>
            <a:noFill/>
            <a:ln w="19050" cap="flat" cmpd="sng">
              <a:solidFill>
                <a:srgbClr val="5B7C9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 txBox="1"/>
            <p:nvPr/>
          </p:nvSpPr>
          <p:spPr>
            <a:xfrm>
              <a:off x="1328153" y="1348686"/>
              <a:ext cx="81292" cy="812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700" tIns="0" rIns="1270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2"/>
            <p:cNvSpPr/>
            <p:nvPr/>
          </p:nvSpPr>
          <p:spPr>
            <a:xfrm rot="-5400000">
              <a:off x="-997762" y="1748782"/>
              <a:ext cx="3381417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80000"/>
                  </a:srgbClr>
                </a:gs>
                <a:gs pos="50000">
                  <a:srgbClr val="8DA1B2">
                    <a:alpha val="80000"/>
                  </a:srgbClr>
                </a:gs>
                <a:gs pos="100000">
                  <a:srgbClr val="7893AA">
                    <a:alpha val="8000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 txBox="1"/>
            <p:nvPr/>
          </p:nvSpPr>
          <p:spPr>
            <a:xfrm rot="-5400000">
              <a:off x="-997762" y="1748782"/>
              <a:ext cx="3381417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0300" tIns="20300" rIns="20300" bIns="203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Arial"/>
                <a:buNone/>
              </a:pPr>
              <a:r>
                <a:rPr lang="en-US" sz="3200" b="0" i="0" u="none" strike="noStrike" cap="none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 In the </a:t>
              </a:r>
              <a:r>
                <a:rPr lang="en-US" sz="3200" b="1" i="0" u="none" strike="noStrike" cap="none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dark</a:t>
              </a:r>
              <a:endParaRPr b="1" dirty="0"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636529" y="213633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69803"/>
                  </a:srgbClr>
                </a:gs>
                <a:gs pos="50000">
                  <a:srgbClr val="8DA1B2">
                    <a:alpha val="69803"/>
                  </a:srgbClr>
                </a:gs>
                <a:gs pos="100000">
                  <a:srgbClr val="7893AA">
                    <a:alpha val="6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 txBox="1"/>
            <p:nvPr/>
          </p:nvSpPr>
          <p:spPr>
            <a:xfrm>
              <a:off x="1636529" y="213633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600" tIns="7600" rIns="7600" bIns="7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Nodes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:</a:t>
              </a:r>
              <a:endParaRPr/>
            </a:p>
            <a:p>
              <a:pPr marL="0" marR="0" lvl="0" indent="0" algn="ctr" rtl="0">
                <a:lnSpc>
                  <a:spcPct val="90000"/>
                </a:lnSpc>
                <a:spcBef>
                  <a:spcPts val="42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Keystone SE nodes 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4849283" y="213633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49803"/>
                  </a:srgbClr>
                </a:gs>
                <a:gs pos="50000">
                  <a:srgbClr val="8DA1B2">
                    <a:alpha val="49803"/>
                  </a:srgbClr>
                </a:gs>
                <a:gs pos="100000">
                  <a:srgbClr val="7893AA">
                    <a:alpha val="4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 txBox="1"/>
            <p:nvPr/>
          </p:nvSpPr>
          <p:spPr>
            <a:xfrm>
              <a:off x="4849283" y="213633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75" tIns="8875" rIns="8875" bIns="88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Interaction strength, hub scores, node centrality</a:t>
              </a: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1636529" y="1233944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69803"/>
                  </a:srgbClr>
                </a:gs>
                <a:gs pos="50000">
                  <a:srgbClr val="8DA1B2">
                    <a:alpha val="69803"/>
                  </a:srgbClr>
                </a:gs>
                <a:gs pos="100000">
                  <a:srgbClr val="7893AA">
                    <a:alpha val="6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 txBox="1"/>
            <p:nvPr/>
          </p:nvSpPr>
          <p:spPr>
            <a:xfrm>
              <a:off x="1636529" y="1233944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600" tIns="7600" rIns="7600" bIns="7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Links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: </a:t>
              </a:r>
              <a:endParaRPr/>
            </a:p>
            <a:p>
              <a:pPr marL="0" marR="0" lvl="0" indent="0" algn="ctr" rtl="0">
                <a:lnSpc>
                  <a:spcPct val="90000"/>
                </a:lnSpc>
                <a:spcBef>
                  <a:spcPts val="42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Duality of interactions</a:t>
              </a:r>
              <a:endParaRPr/>
            </a:p>
            <a:p>
              <a:pPr marL="0" marR="0" lvl="0" indent="0" algn="ctr" rtl="0">
                <a:lnSpc>
                  <a:spcPct val="90000"/>
                </a:lnSpc>
                <a:spcBef>
                  <a:spcPts val="42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Hidden interactions</a:t>
              </a:r>
              <a:endParaRPr/>
            </a:p>
            <a:p>
              <a:pPr marL="0" marR="0" lvl="0" indent="0" algn="ctr" rtl="0">
                <a:lnSpc>
                  <a:spcPct val="90000"/>
                </a:lnSpc>
                <a:spcBef>
                  <a:spcPts val="42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Forbidden interactions</a:t>
              </a: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4849283" y="1233944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49803"/>
                  </a:srgbClr>
                </a:gs>
                <a:gs pos="50000">
                  <a:srgbClr val="8DA1B2">
                    <a:alpha val="49803"/>
                  </a:srgbClr>
                </a:gs>
                <a:gs pos="100000">
                  <a:srgbClr val="7893AA">
                    <a:alpha val="4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 txBox="1"/>
            <p:nvPr/>
          </p:nvSpPr>
          <p:spPr>
            <a:xfrm>
              <a:off x="4849283" y="1233944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75" tIns="8875" rIns="8875" bIns="88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Degree, centrality, clustering, temporal activity, functional roles</a:t>
              </a: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1636529" y="2254255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69803"/>
                  </a:srgbClr>
                </a:gs>
                <a:gs pos="50000">
                  <a:srgbClr val="8DA1B2">
                    <a:alpha val="69803"/>
                  </a:srgbClr>
                </a:gs>
                <a:gs pos="100000">
                  <a:srgbClr val="7893AA">
                    <a:alpha val="6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 txBox="1"/>
            <p:nvPr/>
          </p:nvSpPr>
          <p:spPr>
            <a:xfrm>
              <a:off x="1636529" y="2254255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600" tIns="7600" rIns="7600" bIns="7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External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:</a:t>
              </a:r>
              <a:endParaRPr/>
            </a:p>
            <a:p>
              <a:pPr marL="0" marR="0" lvl="0" indent="0" algn="ctr" rtl="0">
                <a:lnSpc>
                  <a:spcPct val="90000"/>
                </a:lnSpc>
                <a:spcBef>
                  <a:spcPts val="42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Environmental effects on SENs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4849283" y="2254255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49803"/>
                  </a:srgbClr>
                </a:gs>
                <a:gs pos="50000">
                  <a:srgbClr val="8DA1B2">
                    <a:alpha val="49803"/>
                  </a:srgbClr>
                </a:gs>
                <a:gs pos="100000">
                  <a:srgbClr val="7893AA">
                    <a:alpha val="4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 txBox="1"/>
            <p:nvPr/>
          </p:nvSpPr>
          <p:spPr>
            <a:xfrm>
              <a:off x="4849283" y="2254255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350" tIns="6350" rIns="6350" bIns="63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Linear models, Mixed-effects models (GLMMs, GAMMs), Spatial autoregressive models (SAR), Bayesian models, Latent space models,  Exponential Random Graph Models (ERGMs), Machine Learning models, Multivariate tests.</a:t>
              </a: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1636529" y="3274565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69803"/>
                  </a:srgbClr>
                </a:gs>
                <a:gs pos="50000">
                  <a:srgbClr val="8DA1B2">
                    <a:alpha val="69803"/>
                  </a:srgbClr>
                </a:gs>
                <a:gs pos="100000">
                  <a:srgbClr val="7893AA">
                    <a:alpha val="6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 txBox="1"/>
            <p:nvPr/>
          </p:nvSpPr>
          <p:spPr>
            <a:xfrm>
              <a:off x="1636529" y="3274565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600" tIns="7600" rIns="7600" bIns="7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Networks</a:t>
              </a:r>
              <a:r>
                <a:rPr lang="en-US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:</a:t>
              </a:r>
              <a:endParaRPr/>
            </a:p>
            <a:p>
              <a:pPr marL="0" marR="0" lvl="0" indent="0" algn="ctr" rtl="0">
                <a:lnSpc>
                  <a:spcPct val="90000"/>
                </a:lnSpc>
                <a:spcBef>
                  <a:spcPts val="42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Emergent properties</a:t>
              </a: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4849283" y="3274565"/>
              <a:ext cx="2677295" cy="816248"/>
            </a:xfrm>
            <a:prstGeom prst="rect">
              <a:avLst/>
            </a:prstGeom>
            <a:gradFill>
              <a:gsLst>
                <a:gs pos="0">
                  <a:srgbClr val="9AADBE">
                    <a:alpha val="49803"/>
                  </a:srgbClr>
                </a:gs>
                <a:gs pos="50000">
                  <a:srgbClr val="8DA1B2">
                    <a:alpha val="49803"/>
                  </a:srgbClr>
                </a:gs>
                <a:gs pos="100000">
                  <a:srgbClr val="7893AA">
                    <a:alpha val="49803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 txBox="1"/>
            <p:nvPr/>
          </p:nvSpPr>
          <p:spPr>
            <a:xfrm>
              <a:off x="4849283" y="3274565"/>
              <a:ext cx="2677295" cy="8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600" tIns="7600" rIns="7600" bIns="7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Robustness, Flow betweenness, Hierarchy  centralization, Modularity  and participation, assortativity   </a:t>
              </a:r>
              <a:endParaRPr/>
            </a:p>
          </p:txBody>
        </p:sp>
      </p:grpSp>
      <p:cxnSp>
        <p:nvCxnSpPr>
          <p:cNvPr id="125" name="Google Shape;125;p2"/>
          <p:cNvCxnSpPr/>
          <p:nvPr/>
        </p:nvCxnSpPr>
        <p:spPr>
          <a:xfrm>
            <a:off x="8532276" y="1007066"/>
            <a:ext cx="1421379" cy="106874"/>
          </a:xfrm>
          <a:prstGeom prst="straightConnector1">
            <a:avLst/>
          </a:prstGeom>
          <a:noFill/>
          <a:ln w="38100" cap="flat" cmpd="sng">
            <a:solidFill>
              <a:srgbClr val="A7B8C6"/>
            </a:solidFill>
            <a:prstDash val="dash"/>
            <a:miter lim="800000"/>
            <a:headEnd type="none" w="sm" len="sm"/>
            <a:tailEnd type="none" w="sm" len="sm"/>
          </a:ln>
        </p:spPr>
      </p:cxnSp>
      <p:pic>
        <p:nvPicPr>
          <p:cNvPr id="127" name="Google Shape;127;p2" descr="Rede social com preenchimento sólido"/>
          <p:cNvPicPr preferRelativeResize="0"/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76876" y="600049"/>
            <a:ext cx="1230015" cy="123001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</p:pic>
      <p:pic>
        <p:nvPicPr>
          <p:cNvPr id="128" name="Google Shape;128;p2" descr="Rede com preenchimento sólido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52695" y="509810"/>
            <a:ext cx="1230015" cy="1230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9" name="Google Shape;129;p2"/>
          <p:cNvCxnSpPr/>
          <p:nvPr/>
        </p:nvCxnSpPr>
        <p:spPr>
          <a:xfrm rot="10800000">
            <a:off x="8442639" y="1450017"/>
            <a:ext cx="1511016" cy="176056"/>
          </a:xfrm>
          <a:prstGeom prst="straightConnector1">
            <a:avLst/>
          </a:prstGeom>
          <a:noFill/>
          <a:ln w="38100" cap="flat" cmpd="sng">
            <a:solidFill>
              <a:srgbClr val="B6C3C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30" name="Google Shape;130;p2"/>
          <p:cNvCxnSpPr/>
          <p:nvPr/>
        </p:nvCxnSpPr>
        <p:spPr>
          <a:xfrm rot="10800000" flipH="1">
            <a:off x="8442639" y="1297087"/>
            <a:ext cx="1779638" cy="98596"/>
          </a:xfrm>
          <a:prstGeom prst="straightConnector1">
            <a:avLst/>
          </a:prstGeom>
          <a:noFill/>
          <a:ln w="38100" cap="flat" cmpd="sng">
            <a:solidFill>
              <a:srgbClr val="A7B8C6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31" name="Google Shape;131;p2"/>
          <p:cNvCxnSpPr>
            <a:cxnSpLocks/>
          </p:cNvCxnSpPr>
          <p:nvPr/>
        </p:nvCxnSpPr>
        <p:spPr>
          <a:xfrm>
            <a:off x="8163668" y="752979"/>
            <a:ext cx="2140265" cy="63753"/>
          </a:xfrm>
          <a:prstGeom prst="straightConnector1">
            <a:avLst/>
          </a:prstGeom>
          <a:noFill/>
          <a:ln w="38100" cap="flat" cmpd="sng">
            <a:solidFill>
              <a:srgbClr val="A7B8C6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32" name="Google Shape;132;p2"/>
          <p:cNvSpPr txBox="1"/>
          <p:nvPr/>
        </p:nvSpPr>
        <p:spPr>
          <a:xfrm>
            <a:off x="8637533" y="1573543"/>
            <a:ext cx="12490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7B8C6"/>
                </a:solidFill>
                <a:latin typeface="Arial"/>
                <a:ea typeface="Arial"/>
                <a:cs typeface="Arial"/>
                <a:sym typeface="Arial"/>
              </a:rPr>
              <a:t>SEN links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6769663" y="242367"/>
            <a:ext cx="22878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7F9F32"/>
                </a:solidFill>
                <a:latin typeface="Arial"/>
                <a:ea typeface="Arial"/>
                <a:cs typeface="Arial"/>
                <a:sym typeface="Arial"/>
              </a:rPr>
              <a:t>Ecological network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9556456" y="236300"/>
            <a:ext cx="181331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CB845D"/>
                </a:solidFill>
                <a:latin typeface="Arial"/>
                <a:ea typeface="Arial"/>
                <a:cs typeface="Arial"/>
                <a:sym typeface="Arial"/>
              </a:rPr>
              <a:t>Social network</a:t>
            </a:r>
            <a:endParaRPr dirty="0">
              <a:solidFill>
                <a:srgbClr val="CB845D"/>
              </a:solidFill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7468433" y="1942875"/>
            <a:ext cx="9669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Levels </a:t>
            </a:r>
            <a:endParaRPr dirty="0"/>
          </a:p>
        </p:txBody>
      </p:sp>
      <p:sp>
        <p:nvSpPr>
          <p:cNvPr id="136" name="Google Shape;136;p2"/>
          <p:cNvSpPr txBox="1"/>
          <p:nvPr/>
        </p:nvSpPr>
        <p:spPr>
          <a:xfrm>
            <a:off x="9982397" y="1924410"/>
            <a:ext cx="233910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Metrics and models</a:t>
            </a:r>
            <a:endParaRPr/>
          </a:p>
        </p:txBody>
      </p:sp>
      <p:grpSp>
        <p:nvGrpSpPr>
          <p:cNvPr id="137" name="Google Shape;137;p2"/>
          <p:cNvGrpSpPr/>
          <p:nvPr/>
        </p:nvGrpSpPr>
        <p:grpSpPr>
          <a:xfrm>
            <a:off x="-639727" y="2670469"/>
            <a:ext cx="980147" cy="3455201"/>
            <a:chOff x="1752985" y="2289536"/>
            <a:chExt cx="546428" cy="2012984"/>
          </a:xfrm>
        </p:grpSpPr>
        <p:sp>
          <p:nvSpPr>
            <p:cNvPr id="139" name="Google Shape;139;p2"/>
            <p:cNvSpPr/>
            <p:nvPr/>
          </p:nvSpPr>
          <p:spPr>
            <a:xfrm rot="16200000">
              <a:off x="989453" y="3053068"/>
              <a:ext cx="2012984" cy="485919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2400" dirty="0">
                  <a:solidFill>
                    <a:schemeClr val="dk1"/>
                  </a:solidFill>
                </a:rPr>
                <a:t>The network</a:t>
              </a:r>
              <a:endParaRPr sz="2400" dirty="0">
                <a:solidFill>
                  <a:schemeClr val="dk1"/>
                </a:solidFill>
              </a:endParaRPr>
            </a:p>
            <a:p>
              <a:pPr marL="0" lvl="0" indent="0" algn="l" rtl="0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2400" dirty="0">
                  <a:solidFill>
                    <a:schemeClr val="dk1"/>
                  </a:solidFill>
                </a:rPr>
                <a:t>we see </a:t>
              </a:r>
              <a:endParaRPr sz="2400" dirty="0">
                <a:solidFill>
                  <a:schemeClr val="dk1"/>
                </a:solidFill>
              </a:endParaRPr>
            </a:p>
            <a:p>
              <a:pPr marL="0" marR="0" lvl="0" indent="0" algn="l" rtl="0">
                <a:spcBef>
                  <a:spcPts val="1000"/>
                </a:spcBef>
                <a:spcAft>
                  <a:spcPts val="0"/>
                </a:spcAft>
                <a:buNone/>
              </a:pPr>
              <a:endParaRPr sz="3200" dirty="0">
                <a:solidFill>
                  <a:schemeClr val="dk1"/>
                </a:solidFill>
              </a:endParaRPr>
            </a:p>
          </p:txBody>
        </p:sp>
        <p:sp>
          <p:nvSpPr>
            <p:cNvPr id="138" name="Google Shape;138;p2"/>
            <p:cNvSpPr txBox="1"/>
            <p:nvPr/>
          </p:nvSpPr>
          <p:spPr>
            <a:xfrm rot="-5400000">
              <a:off x="1130068" y="3044860"/>
              <a:ext cx="1852771" cy="485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675" tIns="19675" rIns="19675" bIns="196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endParaRPr dirty="0"/>
            </a:p>
          </p:txBody>
        </p:sp>
      </p:grpSp>
      <p:pic>
        <p:nvPicPr>
          <p:cNvPr id="140" name="Google Shape;140;p2" descr="Lua cheia com preenchimento sólido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585745" y="2532849"/>
            <a:ext cx="9144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" descr="Lupa com preenchimento sólido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54140" y="657079"/>
            <a:ext cx="1305169" cy="13051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" descr="Seta: curva no sentido horário com preenchimento sólido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 rot="4368668">
            <a:off x="3300108" y="632330"/>
            <a:ext cx="1702002" cy="167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" descr="Seta: curva no sentido horário com preenchimento sólido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 rot="4368668">
            <a:off x="5840968" y="260948"/>
            <a:ext cx="931283" cy="918642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"/>
          <p:cNvSpPr txBox="1"/>
          <p:nvPr/>
        </p:nvSpPr>
        <p:spPr>
          <a:xfrm>
            <a:off x="3640695" y="170401"/>
            <a:ext cx="295724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Future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directions 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SEN research</a:t>
            </a:r>
            <a:endParaRPr dirty="0"/>
          </a:p>
        </p:txBody>
      </p:sp>
      <p:pic>
        <p:nvPicPr>
          <p:cNvPr id="5" name="Graphic 4" descr="Waxing Crescent Moon with solid fill">
            <a:extLst>
              <a:ext uri="{FF2B5EF4-FFF2-40B4-BE49-F238E27FC236}">
                <a16:creationId xmlns:a16="http://schemas.microsoft.com/office/drawing/2014/main" id="{5C2EDC25-9B87-1362-520D-F4CDC5C49B9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74733" y="2507797"/>
            <a:ext cx="914400" cy="914400"/>
          </a:xfrm>
          <a:prstGeom prst="rect">
            <a:avLst/>
          </a:prstGeom>
        </p:spPr>
      </p:pic>
      <p:pic>
        <p:nvPicPr>
          <p:cNvPr id="2" name="Google Shape;89;p2">
            <a:extLst>
              <a:ext uri="{FF2B5EF4-FFF2-40B4-BE49-F238E27FC236}">
                <a16:creationId xmlns:a16="http://schemas.microsoft.com/office/drawing/2014/main" id="{F1381D91-4B5F-2ACD-61FA-696A340F532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73997" t="29606" r="4865" b="60800"/>
          <a:stretch>
            <a:fillRect/>
          </a:stretch>
        </p:blipFill>
        <p:spPr>
          <a:xfrm>
            <a:off x="3992491" y="3187326"/>
            <a:ext cx="1212065" cy="549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118</Words>
  <Application>Microsoft Office PowerPoint</Application>
  <PresentationFormat>Widescreen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Play</vt:lpstr>
      <vt:lpstr>Calibri</vt:lpstr>
      <vt:lpstr>Tema do Office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Renata de Lara Muylaert</dc:creator>
  <cp:lastModifiedBy>Renata de Lara Muylaert</cp:lastModifiedBy>
  <cp:revision>1</cp:revision>
  <dcterms:created xsi:type="dcterms:W3CDTF">2025-04-17T22:31:16Z</dcterms:created>
  <dcterms:modified xsi:type="dcterms:W3CDTF">2025-06-13T06:00:28Z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d9e4d68-54d0-40a5-8c9a-85a36c87352c_Enabled">
    <vt:lpwstr>true</vt:lpwstr>
  </property>
  <property fmtid="{D5CDD505-2E9C-101B-9397-08002B2CF9AE}" pid="3" name="MSIP_Label_bd9e4d68-54d0-40a5-8c9a-85a36c87352c_SetDate">
    <vt:lpwstr>2025-04-17T23:15:45Z</vt:lpwstr>
  </property>
  <property fmtid="{D5CDD505-2E9C-101B-9397-08002B2CF9AE}" pid="4" name="MSIP_Label_bd9e4d68-54d0-40a5-8c9a-85a36c87352c_Method">
    <vt:lpwstr>Standard</vt:lpwstr>
  </property>
  <property fmtid="{D5CDD505-2E9C-101B-9397-08002B2CF9AE}" pid="5" name="MSIP_Label_bd9e4d68-54d0-40a5-8c9a-85a36c87352c_Name">
    <vt:lpwstr>Unclassified</vt:lpwstr>
  </property>
  <property fmtid="{D5CDD505-2E9C-101B-9397-08002B2CF9AE}" pid="6" name="MSIP_Label_bd9e4d68-54d0-40a5-8c9a-85a36c87352c_SiteId">
    <vt:lpwstr>388728e1-bbd0-4378-98dc-f8682e644300</vt:lpwstr>
  </property>
  <property fmtid="{D5CDD505-2E9C-101B-9397-08002B2CF9AE}" pid="7" name="MSIP_Label_bd9e4d68-54d0-40a5-8c9a-85a36c87352c_ActionId">
    <vt:lpwstr>07064134-f2bc-4b94-9884-e20e30c048ed</vt:lpwstr>
  </property>
  <property fmtid="{D5CDD505-2E9C-101B-9397-08002B2CF9AE}" pid="8" name="MSIP_Label_bd9e4d68-54d0-40a5-8c9a-85a36c87352c_ContentBits">
    <vt:lpwstr>0</vt:lpwstr>
  </property>
  <property fmtid="{D5CDD505-2E9C-101B-9397-08002B2CF9AE}" pid="9" name="MSIP_Label_bd9e4d68-54d0-40a5-8c9a-85a36c87352c_Tag">
    <vt:lpwstr>10, 3, 0, 1</vt:lpwstr>
  </property>
</Properties>
</file>